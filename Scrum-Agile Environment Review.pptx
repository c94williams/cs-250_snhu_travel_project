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E5EF9-1DFB-C2EE-C8D7-27B692E59B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08809B-48F8-9D34-6EEE-DE591AFA4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34EC7-5021-D5EE-D3ED-9A8E79E772CE}"/>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5" name="Footer Placeholder 4">
            <a:extLst>
              <a:ext uri="{FF2B5EF4-FFF2-40B4-BE49-F238E27FC236}">
                <a16:creationId xmlns:a16="http://schemas.microsoft.com/office/drawing/2014/main" id="{F4987020-CE54-69CE-AF80-ED0B7799CD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AAEE7-2CE7-E291-C427-FA8B1B1A0E6C}"/>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1721614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E4D55-2695-4CDF-312D-4C0BA41AA7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BEA316-251E-7BA0-ABFB-77F04B4715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A21389-80D1-F874-1B3F-4211F0315A5B}"/>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5" name="Footer Placeholder 4">
            <a:extLst>
              <a:ext uri="{FF2B5EF4-FFF2-40B4-BE49-F238E27FC236}">
                <a16:creationId xmlns:a16="http://schemas.microsoft.com/office/drawing/2014/main" id="{0556FA2F-6473-168E-2DCC-B7C019098B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15B9E-963F-3964-453F-5AD45ED7797F}"/>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2622772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35232-9D90-68EC-FCF5-24A910CD05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B3E9BA-4D16-A78D-0F72-2AC14EA428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55EE76-B1FD-30D5-1FE5-E3C6543FA44E}"/>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5" name="Footer Placeholder 4">
            <a:extLst>
              <a:ext uri="{FF2B5EF4-FFF2-40B4-BE49-F238E27FC236}">
                <a16:creationId xmlns:a16="http://schemas.microsoft.com/office/drawing/2014/main" id="{6FAD2402-57C6-3D7A-0009-80B706DF5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52AB7-5ADF-23BF-1C3E-778341C044AC}"/>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4165956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BB209-9261-009E-AD77-F7715FA7E7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1A0496-9978-A526-45B5-3884DA029B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59C1C0-44EC-070C-54A7-12703BAF95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D4C588-98C5-A971-F7A9-4EF28F7EB423}"/>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6" name="Footer Placeholder 5">
            <a:extLst>
              <a:ext uri="{FF2B5EF4-FFF2-40B4-BE49-F238E27FC236}">
                <a16:creationId xmlns:a16="http://schemas.microsoft.com/office/drawing/2014/main" id="{F9F6DE30-A737-3B5C-219B-9990335355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AB548-727C-6836-56DB-A40B89A740F9}"/>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1607853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F55FF-A995-7CF5-EC46-CFD579A1F2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856DD9-EA41-86A2-D96D-E853C0C35C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60DF0F-A09C-552C-3309-84A68C9EED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7FD1D1-9CB0-976F-14C5-3DC58BC2E7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70BD94-C368-9DDC-C1C5-853708A64E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A9FBA5-F844-08D3-2803-207D02A3C173}"/>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8" name="Footer Placeholder 7">
            <a:extLst>
              <a:ext uri="{FF2B5EF4-FFF2-40B4-BE49-F238E27FC236}">
                <a16:creationId xmlns:a16="http://schemas.microsoft.com/office/drawing/2014/main" id="{E7B3C210-1D05-9C79-E807-DD9B0A3520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E02D58-916C-6CFC-98B9-39C81BB13492}"/>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720386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9A41C-F222-B0EE-E903-9D066A00EF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D1855A-B999-3A06-A04C-3A8C8E411FF6}"/>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4" name="Footer Placeholder 3">
            <a:extLst>
              <a:ext uri="{FF2B5EF4-FFF2-40B4-BE49-F238E27FC236}">
                <a16:creationId xmlns:a16="http://schemas.microsoft.com/office/drawing/2014/main" id="{57A6F2EE-279D-C4E0-41FD-F3AF93E8A2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61059F-614A-CAF1-2781-802EE40D8E2E}"/>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658736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3B59FC-4A95-6014-9B5D-AC3306457894}"/>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3" name="Footer Placeholder 2">
            <a:extLst>
              <a:ext uri="{FF2B5EF4-FFF2-40B4-BE49-F238E27FC236}">
                <a16:creationId xmlns:a16="http://schemas.microsoft.com/office/drawing/2014/main" id="{529A7C32-BAC9-8A0F-AEFF-CE8B1B7A96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7A7584-9C3D-59F2-020F-245A96924AC8}"/>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747315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15F92-8795-0D8B-CCF0-901CBE8BAE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79D833-5EAC-CB78-97E3-8A5005A701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9CD26C-BF8B-BF41-365C-412613B02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C03457-8A39-A7D6-70FD-D5849B4FD8E4}"/>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6" name="Footer Placeholder 5">
            <a:extLst>
              <a:ext uri="{FF2B5EF4-FFF2-40B4-BE49-F238E27FC236}">
                <a16:creationId xmlns:a16="http://schemas.microsoft.com/office/drawing/2014/main" id="{B5942190-C089-C414-7A31-05BEF99D8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9CB120-F35F-A60F-AEA4-BD9A9699E875}"/>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2873472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8EF3-6533-ED79-6FFD-9E9A47014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C4A088-AE4A-309F-8215-143967697D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0DB0E8-028F-FADA-754E-AC510905F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FB3B88-C64D-3490-823F-3A67BE22D8B0}"/>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6" name="Footer Placeholder 5">
            <a:extLst>
              <a:ext uri="{FF2B5EF4-FFF2-40B4-BE49-F238E27FC236}">
                <a16:creationId xmlns:a16="http://schemas.microsoft.com/office/drawing/2014/main" id="{E285661F-4084-E30E-B7B9-62492D8C90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E48D1D-0BA4-FD89-78C9-F511A0986990}"/>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2748483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AF1CD-32F4-E653-76D7-8F19688D50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E847B0-9288-D070-9D5C-6E9EF7239A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7BEFE-1507-1B55-A5F4-90994F283FA3}"/>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5" name="Footer Placeholder 4">
            <a:extLst>
              <a:ext uri="{FF2B5EF4-FFF2-40B4-BE49-F238E27FC236}">
                <a16:creationId xmlns:a16="http://schemas.microsoft.com/office/drawing/2014/main" id="{BCC2179B-8D0A-F677-081F-31AC54566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5D7C1E-B6D9-38BE-56F5-5612D75C8E12}"/>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1324498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321B86-0C1B-116F-5BFD-BAF8B4C1FA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BE48B0-8A1F-3009-47B8-0DF83D28D8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AA5B30-E0FF-E81F-5541-9B89001E1A9D}"/>
              </a:ext>
            </a:extLst>
          </p:cNvPr>
          <p:cNvSpPr>
            <a:spLocks noGrp="1"/>
          </p:cNvSpPr>
          <p:nvPr>
            <p:ph type="dt" sz="half" idx="10"/>
          </p:nvPr>
        </p:nvSpPr>
        <p:spPr/>
        <p:txBody>
          <a:bodyPr/>
          <a:lstStyle/>
          <a:p>
            <a:fld id="{2F330513-6A36-487F-AA47-1974A7EAEE41}" type="datetimeFigureOut">
              <a:rPr lang="en-US" smtClean="0"/>
              <a:t>4/19/2026</a:t>
            </a:fld>
            <a:endParaRPr lang="en-US"/>
          </a:p>
        </p:txBody>
      </p:sp>
      <p:sp>
        <p:nvSpPr>
          <p:cNvPr id="5" name="Footer Placeholder 4">
            <a:extLst>
              <a:ext uri="{FF2B5EF4-FFF2-40B4-BE49-F238E27FC236}">
                <a16:creationId xmlns:a16="http://schemas.microsoft.com/office/drawing/2014/main" id="{26FF39B4-7476-B63F-14C8-FADD483846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7EF1D-A8C8-38B4-E037-5B74D4086CDE}"/>
              </a:ext>
            </a:extLst>
          </p:cNvPr>
          <p:cNvSpPr>
            <a:spLocks noGrp="1"/>
          </p:cNvSpPr>
          <p:nvPr>
            <p:ph type="sldNum" sz="quarter" idx="12"/>
          </p:nvPr>
        </p:nvSpPr>
        <p:spPr/>
        <p:txBody>
          <a:bodyPr/>
          <a:lstStyle/>
          <a:p>
            <a:fld id="{0DA1AF19-7862-410B-8D7B-FEFA343BC91D}" type="slidenum">
              <a:rPr lang="en-US" smtClean="0"/>
              <a:t>‹#›</a:t>
            </a:fld>
            <a:endParaRPr lang="en-US"/>
          </a:p>
        </p:txBody>
      </p:sp>
    </p:spTree>
    <p:extLst>
      <p:ext uri="{BB962C8B-B14F-4D97-AF65-F5344CB8AC3E}">
        <p14:creationId xmlns:p14="http://schemas.microsoft.com/office/powerpoint/2010/main" val="3500308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4CCAE-A795-626F-A942-F2195E5FFD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A5C510-65FE-8A32-04A9-66EDAF361D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EC81DC-3762-5D7E-C9B0-8B4A1E7980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330513-6A36-487F-AA47-1974A7EAEE41}" type="datetimeFigureOut">
              <a:rPr lang="en-US" smtClean="0"/>
              <a:t>4/19/2026</a:t>
            </a:fld>
            <a:endParaRPr lang="en-US"/>
          </a:p>
        </p:txBody>
      </p:sp>
      <p:sp>
        <p:nvSpPr>
          <p:cNvPr id="5" name="Footer Placeholder 4">
            <a:extLst>
              <a:ext uri="{FF2B5EF4-FFF2-40B4-BE49-F238E27FC236}">
                <a16:creationId xmlns:a16="http://schemas.microsoft.com/office/drawing/2014/main" id="{78EE21B7-C94E-D4B9-7C5B-4E164DF4C3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80EF64-7CB9-EA16-6B72-12DF10E1F8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A1AF19-7862-410B-8D7B-FEFA343BC91D}" type="slidenum">
              <a:rPr lang="en-US" smtClean="0"/>
              <a:t>‹#›</a:t>
            </a:fld>
            <a:endParaRPr lang="en-US"/>
          </a:p>
        </p:txBody>
      </p:sp>
    </p:spTree>
    <p:extLst>
      <p:ext uri="{BB962C8B-B14F-4D97-AF65-F5344CB8AC3E}">
        <p14:creationId xmlns:p14="http://schemas.microsoft.com/office/powerpoint/2010/main" val="353050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37" name="Freeform: Shape 36">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Freeform: Shape 38">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Freeform: Shape 39">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 name="Freeform: Shape 40">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42" name="Freeform: Shape 41">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3" name="Freeform: Shape 42">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AF27E242-C872-5FAE-BAC4-0021A20D7C9E}"/>
              </a:ext>
            </a:extLst>
          </p:cNvPr>
          <p:cNvSpPr>
            <a:spLocks noGrp="1"/>
          </p:cNvSpPr>
          <p:nvPr>
            <p:ph type="title"/>
          </p:nvPr>
        </p:nvSpPr>
        <p:spPr>
          <a:xfrm>
            <a:off x="3215729" y="1764407"/>
            <a:ext cx="5760846" cy="2310312"/>
          </a:xfrm>
        </p:spPr>
        <p:txBody>
          <a:bodyPr vert="horz" lIns="91440" tIns="45720" rIns="91440" bIns="45720" rtlCol="0" anchor="b">
            <a:normAutofit/>
          </a:bodyPr>
          <a:lstStyle/>
          <a:p>
            <a:pPr algn="ctr"/>
            <a:r>
              <a:rPr lang="en-US" sz="5200" kern="1200">
                <a:solidFill>
                  <a:schemeClr val="tx2"/>
                </a:solidFill>
                <a:latin typeface="+mj-lt"/>
                <a:ea typeface="+mj-ea"/>
                <a:cs typeface="+mj-cs"/>
              </a:rPr>
              <a:t>Scrum-Agile Environment Review</a:t>
            </a:r>
          </a:p>
        </p:txBody>
      </p:sp>
    </p:spTree>
    <p:extLst>
      <p:ext uri="{BB962C8B-B14F-4D97-AF65-F5344CB8AC3E}">
        <p14:creationId xmlns:p14="http://schemas.microsoft.com/office/powerpoint/2010/main" val="358608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4C605-708C-8465-8FBC-C12109E9C53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8" name="Freeform: Shape 7">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4FDB6688-BA0A-8AFC-72BD-D2D2B173AE0F}"/>
              </a:ext>
            </a:extLst>
          </p:cNvPr>
          <p:cNvSpPr>
            <a:spLocks noGrp="1"/>
          </p:cNvSpPr>
          <p:nvPr>
            <p:ph type="title"/>
          </p:nvPr>
        </p:nvSpPr>
        <p:spPr>
          <a:xfrm>
            <a:off x="3027924" y="85726"/>
            <a:ext cx="5754696" cy="1535604"/>
          </a:xfrm>
        </p:spPr>
        <p:txBody>
          <a:bodyPr>
            <a:normAutofit/>
          </a:bodyPr>
          <a:lstStyle/>
          <a:p>
            <a:pPr algn="ctr"/>
            <a:r>
              <a:rPr lang="en-US" sz="3600" dirty="0">
                <a:solidFill>
                  <a:schemeClr val="tx2"/>
                </a:solidFill>
              </a:rPr>
              <a:t>Meet the Team!</a:t>
            </a:r>
          </a:p>
        </p:txBody>
      </p:sp>
      <p:sp>
        <p:nvSpPr>
          <p:cNvPr id="5" name="Content Placeholder 4">
            <a:extLst>
              <a:ext uri="{FF2B5EF4-FFF2-40B4-BE49-F238E27FC236}">
                <a16:creationId xmlns:a16="http://schemas.microsoft.com/office/drawing/2014/main" id="{87826448-B66D-9019-80AF-50BFA0C2BF93}"/>
              </a:ext>
            </a:extLst>
          </p:cNvPr>
          <p:cNvSpPr>
            <a:spLocks noGrp="1"/>
          </p:cNvSpPr>
          <p:nvPr>
            <p:ph idx="1"/>
          </p:nvPr>
        </p:nvSpPr>
        <p:spPr>
          <a:xfrm>
            <a:off x="342900" y="1828800"/>
            <a:ext cx="11725275" cy="4943474"/>
          </a:xfrm>
        </p:spPr>
        <p:txBody>
          <a:bodyPr anchor="t">
            <a:normAutofit/>
          </a:bodyPr>
          <a:lstStyle/>
          <a:p>
            <a:r>
              <a:rPr lang="en-US" sz="2000" dirty="0">
                <a:solidFill>
                  <a:schemeClr val="tx2"/>
                </a:solidFill>
              </a:rPr>
              <a:t>Product Owner – Voice of the client! Collaborates with stakeholders and/or end users to define the vision of the product. Also defines and prioritizes what features the development team will need to build. This part is done via user stories and the product backlog.</a:t>
            </a:r>
          </a:p>
          <a:p>
            <a:r>
              <a:rPr lang="en-US" sz="2000" dirty="0">
                <a:solidFill>
                  <a:schemeClr val="tx2"/>
                </a:solidFill>
              </a:rPr>
              <a:t>Scrum Master – The Conductor of the development team! Schedules and guides various scrum meetings. Ensures necessary resources are available to developers and testers. Also, someone that can “address distractions, disruptions, and obstacles so that the remainder of the team is free to focus on the work of producing output that will generate the desired outcome” (McDonald, 2022).</a:t>
            </a:r>
          </a:p>
          <a:p>
            <a:r>
              <a:rPr lang="en-US" sz="2000" dirty="0">
                <a:solidFill>
                  <a:schemeClr val="tx2"/>
                </a:solidFill>
              </a:rPr>
              <a:t>Tester – The quality specialist! Works closely with the developers to ensure the code created has zero loopholes and works as intended. Works closely with the product owners to ensure the requested features are clear and concise. </a:t>
            </a:r>
          </a:p>
          <a:p>
            <a:r>
              <a:rPr lang="en-US" sz="2000" dirty="0">
                <a:solidFill>
                  <a:schemeClr val="tx2"/>
                </a:solidFill>
              </a:rPr>
              <a:t>Developers – The backbone of the team! Develops the features requested to bring the client’s vision to life. Occasionally works with one another to overcome obstacles and communicates with all team members to keep the team updated on progress and raise any questions in requirements. </a:t>
            </a:r>
          </a:p>
        </p:txBody>
      </p:sp>
      <p:grpSp>
        <p:nvGrpSpPr>
          <p:cNvPr id="20" name="Group 19">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1" name="Freeform: Shape 20">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36061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3154E0-24FD-CC96-97C5-14D1C7F0659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B28F88-CA14-8632-6EE2-CCF76F345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B413EE-9874-2FB9-F3C6-7BA5AC468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14129C6-AFFB-AA8B-1A64-74BEC61DBA1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8" name="Freeform: Shape 7">
              <a:extLst>
                <a:ext uri="{FF2B5EF4-FFF2-40B4-BE49-F238E27FC236}">
                  <a16:creationId xmlns:a16="http://schemas.microsoft.com/office/drawing/2014/main" id="{D07DB0E8-1116-459F-8895-D547C8D57A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93FE0539-545F-CA69-8482-F8680AB89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BC887C2-EC76-FD84-A47C-73891B8958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A66A825-9EC7-8751-6CA8-0B8A359D2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5D1DC32C-EB57-BF25-E7E6-F522767E9D2D}"/>
              </a:ext>
            </a:extLst>
          </p:cNvPr>
          <p:cNvSpPr>
            <a:spLocks noGrp="1"/>
          </p:cNvSpPr>
          <p:nvPr>
            <p:ph type="title"/>
          </p:nvPr>
        </p:nvSpPr>
        <p:spPr>
          <a:xfrm>
            <a:off x="3027924" y="85725"/>
            <a:ext cx="5754696" cy="2060521"/>
          </a:xfrm>
        </p:spPr>
        <p:txBody>
          <a:bodyPr>
            <a:normAutofit/>
          </a:bodyPr>
          <a:lstStyle/>
          <a:p>
            <a:pPr algn="ctr"/>
            <a:r>
              <a:rPr lang="en-US" sz="3600" dirty="0">
                <a:solidFill>
                  <a:schemeClr val="tx2"/>
                </a:solidFill>
              </a:rPr>
              <a:t>The Software Development Lifecycle in Agile</a:t>
            </a:r>
          </a:p>
        </p:txBody>
      </p:sp>
      <p:sp>
        <p:nvSpPr>
          <p:cNvPr id="5" name="Content Placeholder 4">
            <a:extLst>
              <a:ext uri="{FF2B5EF4-FFF2-40B4-BE49-F238E27FC236}">
                <a16:creationId xmlns:a16="http://schemas.microsoft.com/office/drawing/2014/main" id="{8A079649-68E1-8DD5-B48F-C5EB2D014D91}"/>
              </a:ext>
            </a:extLst>
          </p:cNvPr>
          <p:cNvSpPr>
            <a:spLocks noGrp="1"/>
          </p:cNvSpPr>
          <p:nvPr>
            <p:ph idx="1"/>
          </p:nvPr>
        </p:nvSpPr>
        <p:spPr>
          <a:xfrm>
            <a:off x="342900" y="2231974"/>
            <a:ext cx="11725275" cy="4540299"/>
          </a:xfrm>
        </p:spPr>
        <p:txBody>
          <a:bodyPr anchor="t">
            <a:normAutofit lnSpcReduction="10000"/>
          </a:bodyPr>
          <a:lstStyle/>
          <a:p>
            <a:r>
              <a:rPr lang="en-US" sz="1600" dirty="0">
                <a:solidFill>
                  <a:schemeClr val="tx2"/>
                </a:solidFill>
              </a:rPr>
              <a:t>Sprint Planning – Scope of the project, resources needed, deadlines, and costs are usually defined here by the product owner and scrum master</a:t>
            </a:r>
          </a:p>
          <a:p>
            <a:r>
              <a:rPr lang="en-US" sz="1600" dirty="0">
                <a:solidFill>
                  <a:schemeClr val="tx2"/>
                </a:solidFill>
              </a:rPr>
              <a:t>Requirements Analysis – Defines the expectations of the clients and end users. These expectations are analyzed to determine which ones are essential and which are desirable. The collected data and analysis is then compiled into a Software Requirements Specification (SRS) document. This document identifies “the software's purpose, features, and functionalities, acting as a guide for the development team and providing cost estimates if needed” (The Seven Phases of the Software Development Life Cycle, 2026). These requirements can change throughout the sprint based on new client requests.</a:t>
            </a:r>
          </a:p>
          <a:p>
            <a:r>
              <a:rPr lang="en-US" sz="1600" dirty="0">
                <a:solidFill>
                  <a:schemeClr val="tx2"/>
                </a:solidFill>
              </a:rPr>
              <a:t>Design – Defines the structure of the product. How the user interface should look, the structure of the databases, and any other technical specifications.</a:t>
            </a:r>
          </a:p>
          <a:p>
            <a:r>
              <a:rPr lang="en-US" sz="1600" dirty="0">
                <a:solidFill>
                  <a:schemeClr val="tx2"/>
                </a:solidFill>
              </a:rPr>
              <a:t>Implementation – Developers build the structure of the product. The interface, databases, and any other technical aspects come to life based on the specifications created from the Design phase. This phase and the Design phase can sometimes go back and forth if new structures need to be defined or existing structures updated.</a:t>
            </a:r>
          </a:p>
          <a:p>
            <a:r>
              <a:rPr lang="en-US" sz="1600" dirty="0">
                <a:solidFill>
                  <a:schemeClr val="tx2"/>
                </a:solidFill>
              </a:rPr>
              <a:t>Testing – Testers collaborate with the developers to identify any bugs or loopholes, as well as confirm the software meets the requirements specified during the Requirements Analysis phase. This phase and the Implementation phase often go back and forth to ensure a quality final product.</a:t>
            </a:r>
          </a:p>
          <a:p>
            <a:r>
              <a:rPr lang="en-US" sz="1600" dirty="0">
                <a:solidFill>
                  <a:schemeClr val="tx2"/>
                </a:solidFill>
              </a:rPr>
              <a:t>Deployment – The final product is released to a production environment where end users can access it.</a:t>
            </a:r>
          </a:p>
          <a:p>
            <a:r>
              <a:rPr lang="en-US" sz="1600" dirty="0">
                <a:solidFill>
                  <a:schemeClr val="tx2"/>
                </a:solidFill>
              </a:rPr>
              <a:t>Maintenance – Ongoing support of the product. This is where software can be updated, features enhanced, or newly found issues addressed. </a:t>
            </a:r>
          </a:p>
        </p:txBody>
      </p:sp>
      <p:grpSp>
        <p:nvGrpSpPr>
          <p:cNvPr id="20" name="Group 19">
            <a:extLst>
              <a:ext uri="{FF2B5EF4-FFF2-40B4-BE49-F238E27FC236}">
                <a16:creationId xmlns:a16="http://schemas.microsoft.com/office/drawing/2014/main" id="{6C927779-767C-812A-3FAA-62FED00CD3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1" name="Freeform: Shape 20">
              <a:extLst>
                <a:ext uri="{FF2B5EF4-FFF2-40B4-BE49-F238E27FC236}">
                  <a16:creationId xmlns:a16="http://schemas.microsoft.com/office/drawing/2014/main" id="{B93B4FDC-F9E3-937A-E344-F17B68BB8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BF5C6C6-0CD1-7F91-27E9-9D9D19F30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F1497FD5-DD03-44D0-C2D4-7AB0554609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548DAF88-AE43-F732-D82B-13CCB853F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58472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923AB3-A40A-EF02-7AA8-8A7F13C0F95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BDC558-D74E-EA9D-400B-64489936C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1E02DF-DC78-2CD8-0E6E-8C49778AE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FAB1B58-ED92-70CC-7AE6-F0626C6E78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8" name="Freeform: Shape 7">
              <a:extLst>
                <a:ext uri="{FF2B5EF4-FFF2-40B4-BE49-F238E27FC236}">
                  <a16:creationId xmlns:a16="http://schemas.microsoft.com/office/drawing/2014/main" id="{13F23191-AD42-7BC3-AE84-B8CDC547D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9D8CD7C-7700-D1D9-C4F1-51AA59F43A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11BC4A5-1B2E-C27F-D62D-2A34FDAA6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528F53A-9F07-4359-3A14-7CC12C9924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DA926802-E3DF-53A5-E03D-5F9610D1B6CF}"/>
              </a:ext>
            </a:extLst>
          </p:cNvPr>
          <p:cNvSpPr>
            <a:spLocks noGrp="1"/>
          </p:cNvSpPr>
          <p:nvPr>
            <p:ph type="title"/>
          </p:nvPr>
        </p:nvSpPr>
        <p:spPr>
          <a:xfrm>
            <a:off x="3027924" y="85725"/>
            <a:ext cx="5754696" cy="2870629"/>
          </a:xfrm>
        </p:spPr>
        <p:txBody>
          <a:bodyPr>
            <a:normAutofit/>
          </a:bodyPr>
          <a:lstStyle/>
          <a:p>
            <a:pPr algn="ctr"/>
            <a:r>
              <a:rPr lang="en-US" sz="3600" dirty="0">
                <a:solidFill>
                  <a:schemeClr val="tx2"/>
                </a:solidFill>
              </a:rPr>
              <a:t>The Software Development Lifecycle using Waterfall Methodology</a:t>
            </a:r>
          </a:p>
        </p:txBody>
      </p:sp>
      <p:sp>
        <p:nvSpPr>
          <p:cNvPr id="5" name="Content Placeholder 4">
            <a:extLst>
              <a:ext uri="{FF2B5EF4-FFF2-40B4-BE49-F238E27FC236}">
                <a16:creationId xmlns:a16="http://schemas.microsoft.com/office/drawing/2014/main" id="{78B135D9-D9B2-C120-0667-BB92E32BDB1D}"/>
              </a:ext>
            </a:extLst>
          </p:cNvPr>
          <p:cNvSpPr>
            <a:spLocks noGrp="1"/>
          </p:cNvSpPr>
          <p:nvPr>
            <p:ph idx="1"/>
          </p:nvPr>
        </p:nvSpPr>
        <p:spPr>
          <a:xfrm>
            <a:off x="342900" y="3163824"/>
            <a:ext cx="11725275" cy="3608449"/>
          </a:xfrm>
        </p:spPr>
        <p:txBody>
          <a:bodyPr anchor="t">
            <a:normAutofit/>
          </a:bodyPr>
          <a:lstStyle/>
          <a:p>
            <a:r>
              <a:rPr lang="en-US" sz="1600" dirty="0">
                <a:solidFill>
                  <a:schemeClr val="tx2"/>
                </a:solidFill>
              </a:rPr>
              <a:t>Requirement Analysis – All requirements are defined and documented in the SRS in stone. Once this phase completes, no changes to the requirements are allowed.</a:t>
            </a:r>
          </a:p>
          <a:p>
            <a:r>
              <a:rPr lang="en-US" sz="1600" dirty="0">
                <a:solidFill>
                  <a:schemeClr val="tx2"/>
                </a:solidFill>
              </a:rPr>
              <a:t>System Design – The software and hardware architecture is defined based on the SRS document. Once the design is laid out, no further changes are allowed.</a:t>
            </a:r>
          </a:p>
          <a:p>
            <a:r>
              <a:rPr lang="en-US" sz="1600" dirty="0">
                <a:solidFill>
                  <a:schemeClr val="tx2"/>
                </a:solidFill>
              </a:rPr>
              <a:t>Implementation – Development of the design initiates. The design is built in small programs called units.</a:t>
            </a:r>
          </a:p>
          <a:p>
            <a:r>
              <a:rPr lang="en-US" sz="1600" dirty="0">
                <a:solidFill>
                  <a:schemeClr val="tx2"/>
                </a:solidFill>
              </a:rPr>
              <a:t>Testing – All units are implemented into the testing environment, where the entire product is tested as a whole for any bugs or loopholes. There is no back and forth between this phase and Implementation.</a:t>
            </a:r>
          </a:p>
          <a:p>
            <a:r>
              <a:rPr lang="en-US" sz="1600" dirty="0">
                <a:solidFill>
                  <a:schemeClr val="tx2"/>
                </a:solidFill>
              </a:rPr>
              <a:t>Deployment – Final product is deployed to a production environment where end users can access it.</a:t>
            </a:r>
          </a:p>
          <a:p>
            <a:r>
              <a:rPr lang="en-US" sz="1600" dirty="0">
                <a:solidFill>
                  <a:schemeClr val="tx2"/>
                </a:solidFill>
              </a:rPr>
              <a:t>Maintenance - Ongoing support of the product. This is where software can be updated, features enhanced, or newly found issues addressed. </a:t>
            </a:r>
          </a:p>
        </p:txBody>
      </p:sp>
      <p:grpSp>
        <p:nvGrpSpPr>
          <p:cNvPr id="20" name="Group 19">
            <a:extLst>
              <a:ext uri="{FF2B5EF4-FFF2-40B4-BE49-F238E27FC236}">
                <a16:creationId xmlns:a16="http://schemas.microsoft.com/office/drawing/2014/main" id="{C80293EB-7115-34C5-FC08-0CEBA52F9F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1" name="Freeform: Shape 20">
              <a:extLst>
                <a:ext uri="{FF2B5EF4-FFF2-40B4-BE49-F238E27FC236}">
                  <a16:creationId xmlns:a16="http://schemas.microsoft.com/office/drawing/2014/main" id="{53519979-B90B-AC8F-E5DA-0B872B46E4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08311B4-D1FC-253D-BA9A-AF66C73A48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3C2A1B28-08ED-CB96-0733-778297393E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6A24B535-ECA3-8130-C635-3452208A4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867899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48315C-4EC6-25AE-20E9-AAD0B33935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6D133A-FA35-B36B-802C-F6BFFEF6564E}"/>
              </a:ext>
            </a:extLst>
          </p:cNvPr>
          <p:cNvSpPr>
            <a:spLocks noGrp="1"/>
          </p:cNvSpPr>
          <p:nvPr>
            <p:ph type="title"/>
          </p:nvPr>
        </p:nvSpPr>
        <p:spPr/>
        <p:txBody>
          <a:bodyPr>
            <a:normAutofit/>
          </a:bodyPr>
          <a:lstStyle/>
          <a:p>
            <a:pPr algn="ctr"/>
            <a:r>
              <a:rPr lang="en-US" sz="3600" dirty="0">
                <a:solidFill>
                  <a:schemeClr val="tx2"/>
                </a:solidFill>
              </a:rPr>
              <a:t>Agile Vs Waterfall</a:t>
            </a:r>
          </a:p>
        </p:txBody>
      </p:sp>
      <p:sp>
        <p:nvSpPr>
          <p:cNvPr id="2" name="Text Placeholder 1">
            <a:extLst>
              <a:ext uri="{FF2B5EF4-FFF2-40B4-BE49-F238E27FC236}">
                <a16:creationId xmlns:a16="http://schemas.microsoft.com/office/drawing/2014/main" id="{FD750C9A-D283-E6BD-D7E4-663AC9F48D48}"/>
              </a:ext>
            </a:extLst>
          </p:cNvPr>
          <p:cNvSpPr>
            <a:spLocks noGrp="1"/>
          </p:cNvSpPr>
          <p:nvPr>
            <p:ph type="body" idx="1"/>
          </p:nvPr>
        </p:nvSpPr>
        <p:spPr/>
        <p:txBody>
          <a:bodyPr/>
          <a:lstStyle/>
          <a:p>
            <a:r>
              <a:rPr lang="en-US" dirty="0"/>
              <a:t>Agile</a:t>
            </a:r>
          </a:p>
        </p:txBody>
      </p:sp>
      <p:sp>
        <p:nvSpPr>
          <p:cNvPr id="3" name="Content Placeholder 2">
            <a:extLst>
              <a:ext uri="{FF2B5EF4-FFF2-40B4-BE49-F238E27FC236}">
                <a16:creationId xmlns:a16="http://schemas.microsoft.com/office/drawing/2014/main" id="{ADBFEB3A-CFC6-D053-76C0-250F4C221F93}"/>
              </a:ext>
            </a:extLst>
          </p:cNvPr>
          <p:cNvSpPr>
            <a:spLocks noGrp="1"/>
          </p:cNvSpPr>
          <p:nvPr>
            <p:ph sz="half" idx="2"/>
          </p:nvPr>
        </p:nvSpPr>
        <p:spPr/>
        <p:txBody>
          <a:bodyPr>
            <a:normAutofit lnSpcReduction="10000"/>
          </a:bodyPr>
          <a:lstStyle/>
          <a:p>
            <a:r>
              <a:rPr lang="en-US" sz="1800" dirty="0"/>
              <a:t>Able to bounce back and forth between phases if an issue arises</a:t>
            </a:r>
          </a:p>
          <a:p>
            <a:r>
              <a:rPr lang="en-US" sz="1800" dirty="0"/>
              <a:t>Able to accept and accommodate changes in requirements</a:t>
            </a:r>
          </a:p>
          <a:p>
            <a:r>
              <a:rPr lang="en-US" sz="1800" dirty="0"/>
              <a:t>Releases sections of a product per sprint to allow more focus on each section</a:t>
            </a:r>
          </a:p>
          <a:p>
            <a:r>
              <a:rPr lang="en-US" sz="1800" dirty="0"/>
              <a:t>Establishes a “strong communication and collaboration mindset between team members across all functional domains, all of whom have certain roles and responsibilities in Agile.” (Raza, n.d.)</a:t>
            </a:r>
          </a:p>
        </p:txBody>
      </p:sp>
      <p:sp>
        <p:nvSpPr>
          <p:cNvPr id="6" name="Text Placeholder 5">
            <a:extLst>
              <a:ext uri="{FF2B5EF4-FFF2-40B4-BE49-F238E27FC236}">
                <a16:creationId xmlns:a16="http://schemas.microsoft.com/office/drawing/2014/main" id="{877912B7-AD1F-8447-5BB9-AAB4EDB8BB79}"/>
              </a:ext>
            </a:extLst>
          </p:cNvPr>
          <p:cNvSpPr>
            <a:spLocks noGrp="1"/>
          </p:cNvSpPr>
          <p:nvPr>
            <p:ph type="body" sz="quarter" idx="3"/>
          </p:nvPr>
        </p:nvSpPr>
        <p:spPr/>
        <p:txBody>
          <a:bodyPr/>
          <a:lstStyle/>
          <a:p>
            <a:r>
              <a:rPr lang="en-US" dirty="0"/>
              <a:t>Waterfall</a:t>
            </a:r>
          </a:p>
        </p:txBody>
      </p:sp>
      <p:sp>
        <p:nvSpPr>
          <p:cNvPr id="13" name="Content Placeholder 12">
            <a:extLst>
              <a:ext uri="{FF2B5EF4-FFF2-40B4-BE49-F238E27FC236}">
                <a16:creationId xmlns:a16="http://schemas.microsoft.com/office/drawing/2014/main" id="{6A603AD9-148C-93DD-C8F2-92613A49848E}"/>
              </a:ext>
            </a:extLst>
          </p:cNvPr>
          <p:cNvSpPr>
            <a:spLocks noGrp="1"/>
          </p:cNvSpPr>
          <p:nvPr>
            <p:ph sz="quarter" idx="4"/>
          </p:nvPr>
        </p:nvSpPr>
        <p:spPr/>
        <p:txBody>
          <a:bodyPr>
            <a:normAutofit lnSpcReduction="10000"/>
          </a:bodyPr>
          <a:lstStyle/>
          <a:p>
            <a:r>
              <a:rPr lang="en-US" sz="1800" dirty="0"/>
              <a:t>Each phase must be signed off before proceeding to the next (no going back and forth between phases, even if issue arises)</a:t>
            </a:r>
          </a:p>
          <a:p>
            <a:r>
              <a:rPr lang="en-US" sz="1800" dirty="0"/>
              <a:t>Changes in requirements are not allowed. Clients might find this difficult to “outline all of their requirements at the beginning of the project, leading to gaps in documentation” (Kavlakoglu, 2025)</a:t>
            </a:r>
          </a:p>
          <a:p>
            <a:r>
              <a:rPr lang="en-US" sz="1800" dirty="0"/>
              <a:t>Releases the product as a whole, which can result in a vaguer product</a:t>
            </a:r>
          </a:p>
          <a:p>
            <a:r>
              <a:rPr lang="en-US" sz="1800" dirty="0"/>
              <a:t>Communication is not a focal point in this framework since requirements do not change and testing can not back track unless complete failure.</a:t>
            </a:r>
          </a:p>
        </p:txBody>
      </p:sp>
    </p:spTree>
    <p:extLst>
      <p:ext uri="{BB962C8B-B14F-4D97-AF65-F5344CB8AC3E}">
        <p14:creationId xmlns:p14="http://schemas.microsoft.com/office/powerpoint/2010/main" val="3444306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7A38EF-5A72-4F7B-80F0-9E376B0B44B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944E68-8801-5241-5B7A-7DAA92E57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9D7762-6C9C-6C20-999F-7CEA43329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F79EE9B9-C6B4-C0AC-185D-051E7B8E1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8" name="Freeform: Shape 7">
              <a:extLst>
                <a:ext uri="{FF2B5EF4-FFF2-40B4-BE49-F238E27FC236}">
                  <a16:creationId xmlns:a16="http://schemas.microsoft.com/office/drawing/2014/main" id="{F6353D9E-0E18-41D1-D193-324BAB0972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61B2F3A1-7208-4422-E679-171353B48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BFA023E6-268A-8459-F9B1-D44EAB9B6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C6FB8610-AF1C-6A4F-84A2-B86D7A804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3">
            <a:extLst>
              <a:ext uri="{FF2B5EF4-FFF2-40B4-BE49-F238E27FC236}">
                <a16:creationId xmlns:a16="http://schemas.microsoft.com/office/drawing/2014/main" id="{9CC0B4C3-EA3E-7B57-A273-56AFB5C71821}"/>
              </a:ext>
            </a:extLst>
          </p:cNvPr>
          <p:cNvSpPr>
            <a:spLocks noGrp="1"/>
          </p:cNvSpPr>
          <p:nvPr>
            <p:ph type="title"/>
          </p:nvPr>
        </p:nvSpPr>
        <p:spPr>
          <a:xfrm>
            <a:off x="3027924" y="85726"/>
            <a:ext cx="5754696" cy="533400"/>
          </a:xfrm>
        </p:spPr>
        <p:txBody>
          <a:bodyPr>
            <a:normAutofit fontScale="90000"/>
          </a:bodyPr>
          <a:lstStyle/>
          <a:p>
            <a:pPr algn="ctr"/>
            <a:r>
              <a:rPr lang="en-US" sz="3600" dirty="0">
                <a:solidFill>
                  <a:schemeClr val="tx2"/>
                </a:solidFill>
              </a:rPr>
              <a:t>References</a:t>
            </a:r>
          </a:p>
        </p:txBody>
      </p:sp>
      <p:sp>
        <p:nvSpPr>
          <p:cNvPr id="5" name="Content Placeholder 4">
            <a:extLst>
              <a:ext uri="{FF2B5EF4-FFF2-40B4-BE49-F238E27FC236}">
                <a16:creationId xmlns:a16="http://schemas.microsoft.com/office/drawing/2014/main" id="{86A4DCAE-76B2-D56D-AA36-633A8BE97E57}"/>
              </a:ext>
            </a:extLst>
          </p:cNvPr>
          <p:cNvSpPr>
            <a:spLocks noGrp="1"/>
          </p:cNvSpPr>
          <p:nvPr>
            <p:ph idx="1"/>
          </p:nvPr>
        </p:nvSpPr>
        <p:spPr>
          <a:xfrm>
            <a:off x="342900" y="655313"/>
            <a:ext cx="11725275" cy="6116961"/>
          </a:xfrm>
        </p:spPr>
        <p:txBody>
          <a:bodyPr anchor="t">
            <a:normAutofit/>
          </a:bodyPr>
          <a:lstStyle/>
          <a:p>
            <a:r>
              <a:rPr lang="en-US" dirty="0"/>
              <a:t>McDonald, K. (2022, August 30). </a:t>
            </a:r>
            <a:r>
              <a:rPr lang="en-US" i="1" dirty="0"/>
              <a:t>What is a Scrum Master? | Agile Alliance</a:t>
            </a:r>
            <a:r>
              <a:rPr lang="en-US" dirty="0"/>
              <a:t>. Agile Alliance | Promoting a More Effective, Humane, and Sustainable Way of Working. https://agilealliance.org/glossary/scrum-master/</a:t>
            </a:r>
          </a:p>
          <a:p>
            <a:r>
              <a:rPr lang="en-US" i="1" dirty="0"/>
              <a:t>The seven phases of the software development life cycle</a:t>
            </a:r>
            <a:r>
              <a:rPr lang="en-US" dirty="0"/>
              <a:t>. (2026, March 23). Harness.io. https://www.harness.io/blog/software-development-life-cycle-phases</a:t>
            </a:r>
          </a:p>
          <a:p>
            <a:r>
              <a:rPr lang="en-US" dirty="0"/>
              <a:t>Kavlakoglu, E</a:t>
            </a:r>
            <a:r>
              <a:rPr lang="en-US" i="1" dirty="0"/>
              <a:t>. </a:t>
            </a:r>
            <a:r>
              <a:rPr lang="en-US" dirty="0"/>
              <a:t>(2025, November 17). Agile vs waterfall. </a:t>
            </a:r>
            <a:r>
              <a:rPr lang="en-US" i="1" dirty="0"/>
              <a:t>Agile vs waterfall</a:t>
            </a:r>
            <a:r>
              <a:rPr lang="en-US" dirty="0"/>
              <a:t>. https://www.ibm.com/think/topics/agile-vs-waterfall</a:t>
            </a:r>
          </a:p>
          <a:p>
            <a:r>
              <a:rPr lang="en-US" dirty="0"/>
              <a:t>Raza, M. (n.d.). </a:t>
            </a:r>
            <a:r>
              <a:rPr lang="en-US" i="1" dirty="0"/>
              <a:t>Agile vs. Waterfall: What’s The Difference?</a:t>
            </a:r>
            <a:r>
              <a:rPr lang="en-US" dirty="0"/>
              <a:t> BMC Blogs. https://www.bmc.com/blogs/agile-vs-waterfall/</a:t>
            </a:r>
            <a:endParaRPr lang="en-US" sz="2000" dirty="0">
              <a:solidFill>
                <a:schemeClr val="tx2"/>
              </a:solidFill>
            </a:endParaRPr>
          </a:p>
        </p:txBody>
      </p:sp>
      <p:grpSp>
        <p:nvGrpSpPr>
          <p:cNvPr id="20" name="Group 19">
            <a:extLst>
              <a:ext uri="{FF2B5EF4-FFF2-40B4-BE49-F238E27FC236}">
                <a16:creationId xmlns:a16="http://schemas.microsoft.com/office/drawing/2014/main" id="{8EC80D89-0C69-169C-4A4D-B2F94D9F40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1" name="Freeform: Shape 20">
              <a:extLst>
                <a:ext uri="{FF2B5EF4-FFF2-40B4-BE49-F238E27FC236}">
                  <a16:creationId xmlns:a16="http://schemas.microsoft.com/office/drawing/2014/main" id="{3B93921B-A231-7EB8-39BA-DDEE451283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BBD625BF-262D-1479-CFB5-5093F9B68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B631CF77-918D-3BBA-517D-87D813874E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646D2A06-8602-92D2-5F2E-BE07EAC370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013776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999</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Scrum-Agile Environment Review</vt:lpstr>
      <vt:lpstr>Meet the Team!</vt:lpstr>
      <vt:lpstr>The Software Development Lifecycle in Agile</vt:lpstr>
      <vt:lpstr>The Software Development Lifecycle using Waterfall Methodology</vt:lpstr>
      <vt:lpstr>Agile Vs Waterfall</vt:lpstr>
      <vt:lpstr>References</vt:lpstr>
    </vt:vector>
  </TitlesOfParts>
  <Company>Dominion National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1</cp:revision>
  <dcterms:created xsi:type="dcterms:W3CDTF">2026-04-20T02:26:52Z</dcterms:created>
  <dcterms:modified xsi:type="dcterms:W3CDTF">2026-04-20T03:56:12Z</dcterms:modified>
</cp:coreProperties>
</file>